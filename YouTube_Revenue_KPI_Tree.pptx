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a11ebde6b384301" /><Relationship Type="http://schemas.openxmlformats.org/package/2006/relationships/metadata/core-properties" Target="/docProps/core.xml" Id="R9a0c7042b40141c9" /><Relationship Type="http://schemas.openxmlformats.org/officeDocument/2006/relationships/extended-properties" Target="/docProps/app.xml" Id="Redba004caf1d47ed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036e7f4093b74cad"/>
  </p:sldMasterIdLst>
  <p:notesMasterIdLst>
    <p:notesMasterId r:id="Re199ddc1b4f34bc1"/>
  </p:notesMasterIdLst>
  <p:sldIdLst>
    <p:sldId id="256" r:id="Rc749b0543c194c22"/>
    <p:sldId id="257" r:id="R2196d190ad2f4ac1"/>
    <p:sldId id="258" r:id="R8913de4014de4c57"/>
    <p:sldId id="259" r:id="R6457629ff8224138"/>
    <p:sldId id="260" r:id="Rbb6220717a734a38"/>
    <p:sldId id="261" r:id="R47e1f91dfb334edb"/>
    <p:sldId id="262" r:id="R738bb3d829d74b5d"/>
    <p:sldId id="263" r:id="Ra7ad6f2322074660"/>
    <p:sldId id="264" r:id="R7da4560291dd4cf8"/>
    <p:sldId id="265" r:id="R7e38cd0c6652432c"/>
    <p:sldId id="266" r:id="Rc628f2c133064930"/>
    <p:sldId id="267" r:id="Rcdb41ec402b74aa0"/>
    <p:sldId id="268" r:id="Re17d33bf8c2346f7"/>
    <p:sldId id="269" r:id="R69648e618b854bbe"/>
    <p:sldId id="270" r:id="R034b4c30c75e44b7"/>
    <p:sldId id="271" r:id="R824e0eb8f92a4d1a"/>
    <p:sldId id="272" r:id="Re2a89a3bf2764b6c"/>
    <p:sldId id="273" r:id="R98aa6d430850492c"/>
    <p:sldId id="274" r:id="R4491b382419545cc"/>
    <p:sldId id="275" r:id="R4e3bde4de4b34966"/>
    <p:sldId id="276" r:id="R6501aaf846c446b7"/>
    <p:sldId id="277" r:id="R178b8b42467c4b20"/>
    <p:sldId id="278" r:id="R367e025d4de24855"/>
    <p:sldId id="279" r:id="Rd791b20667694202"/>
    <p:sldId id="280" r:id="Rb9512ed4d6a94d16"/>
    <p:sldId id="281" r:id="Re6eeb85861c44eac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199ddc1b4f34bc1" /><Relationship Type="http://schemas.openxmlformats.org/officeDocument/2006/relationships/presProps" Target="/ppt/presProps.xml" Id="R2d756d3a59bf431c" /><Relationship Type="http://schemas.openxmlformats.org/officeDocument/2006/relationships/viewProps" Target="/ppt/viewProps.xml" Id="R7f37b7c4abc54065" /><Relationship Type="http://schemas.openxmlformats.org/officeDocument/2006/relationships/slideMaster" Target="/ppt/slideMasters/slideMaster1.xml" Id="R036e7f4093b74cad" /><Relationship Type="http://schemas.openxmlformats.org/officeDocument/2006/relationships/theme" Target="/ppt/slideMasters/theme/theme2.xml" Id="Rb71403d3f64d4174" /><Relationship Type="http://schemas.openxmlformats.org/officeDocument/2006/relationships/slide" Target="/ppt/slides/slide1.xml" Id="Rc749b0543c194c22" /><Relationship Type="http://schemas.openxmlformats.org/officeDocument/2006/relationships/slide" Target="/ppt/slides/slide2.xml" Id="R2196d190ad2f4ac1" /><Relationship Type="http://schemas.openxmlformats.org/officeDocument/2006/relationships/slide" Target="/ppt/slides/slide3.xml" Id="R8913de4014de4c57" /><Relationship Type="http://schemas.openxmlformats.org/officeDocument/2006/relationships/slide" Target="/ppt/slides/slide4.xml" Id="R6457629ff8224138" /><Relationship Type="http://schemas.openxmlformats.org/officeDocument/2006/relationships/slide" Target="/ppt/slides/slide5.xml" Id="Rbb6220717a734a38" /><Relationship Type="http://schemas.openxmlformats.org/officeDocument/2006/relationships/slide" Target="/ppt/slides/slide6.xml" Id="R47e1f91dfb334edb" /><Relationship Type="http://schemas.openxmlformats.org/officeDocument/2006/relationships/slide" Target="/ppt/slides/slide7.xml" Id="R738bb3d829d74b5d" /><Relationship Type="http://schemas.openxmlformats.org/officeDocument/2006/relationships/slide" Target="/ppt/slides/slide8.xml" Id="Ra7ad6f2322074660" /><Relationship Type="http://schemas.openxmlformats.org/officeDocument/2006/relationships/slide" Target="/ppt/slides/slide9.xml" Id="R7da4560291dd4cf8" /><Relationship Type="http://schemas.openxmlformats.org/officeDocument/2006/relationships/slide" Target="/ppt/slides/slide10.xml" Id="R7e38cd0c6652432c" /><Relationship Type="http://schemas.openxmlformats.org/officeDocument/2006/relationships/slide" Target="/ppt/slides/slide11.xml" Id="Rc628f2c133064930" /><Relationship Type="http://schemas.openxmlformats.org/officeDocument/2006/relationships/slide" Target="/ppt/slides/slide12.xml" Id="Rcdb41ec402b74aa0" /><Relationship Type="http://schemas.openxmlformats.org/officeDocument/2006/relationships/slide" Target="/ppt/slides/slide13.xml" Id="Re17d33bf8c2346f7" /><Relationship Type="http://schemas.openxmlformats.org/officeDocument/2006/relationships/slide" Target="/ppt/slides/slide14.xml" Id="R69648e618b854bbe" /><Relationship Type="http://schemas.openxmlformats.org/officeDocument/2006/relationships/slide" Target="/ppt/slides/slide15.xml" Id="R034b4c30c75e44b7" /><Relationship Type="http://schemas.openxmlformats.org/officeDocument/2006/relationships/slide" Target="/ppt/slides/slide16.xml" Id="R824e0eb8f92a4d1a" /><Relationship Type="http://schemas.openxmlformats.org/officeDocument/2006/relationships/slide" Target="/ppt/slides/slide17.xml" Id="Re2a89a3bf2764b6c" /><Relationship Type="http://schemas.openxmlformats.org/officeDocument/2006/relationships/slide" Target="/ppt/slides/slide18.xml" Id="R98aa6d430850492c" /><Relationship Type="http://schemas.openxmlformats.org/officeDocument/2006/relationships/slide" Target="/ppt/slides/slide19.xml" Id="R4491b382419545cc" /><Relationship Type="http://schemas.openxmlformats.org/officeDocument/2006/relationships/slide" Target="/ppt/slides/slide20.xml" Id="R4e3bde4de4b34966" /><Relationship Type="http://schemas.openxmlformats.org/officeDocument/2006/relationships/slide" Target="/ppt/slides/slide21.xml" Id="R6501aaf846c446b7" /><Relationship Type="http://schemas.openxmlformats.org/officeDocument/2006/relationships/slide" Target="/ppt/slides/slide22.xml" Id="R178b8b42467c4b20" /><Relationship Type="http://schemas.openxmlformats.org/officeDocument/2006/relationships/slide" Target="/ppt/slides/slide23.xml" Id="R367e025d4de24855" /><Relationship Type="http://schemas.openxmlformats.org/officeDocument/2006/relationships/slide" Target="/ppt/slides/slide24.xml" Id="Rd791b20667694202" /><Relationship Type="http://schemas.openxmlformats.org/officeDocument/2006/relationships/slide" Target="/ppt/slides/slide25.xml" Id="Rb9512ed4d6a94d16" /><Relationship Type="http://schemas.openxmlformats.org/officeDocument/2006/relationships/slide" Target="/ppt/slides/slide26.xml" Id="Re6eeb85861c44e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6b084f18751d4db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cf8708065e4407" /><Relationship Type="http://schemas.openxmlformats.org/officeDocument/2006/relationships/notesMaster" Target="/ppt/notesMasters/notesMaster1.xml" Id="Rf5751c1a15ce43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8759c89c4e402e" /><Relationship Type="http://schemas.openxmlformats.org/officeDocument/2006/relationships/notesMaster" Target="/ppt/notesMasters/notesMaster1.xml" Id="R70d38d83f97c40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29ff938f054be4" /><Relationship Type="http://schemas.openxmlformats.org/officeDocument/2006/relationships/notesMaster" Target="/ppt/notesMasters/notesMaster1.xml" Id="R692f2ffbe10a46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da5486a1764597" /><Relationship Type="http://schemas.openxmlformats.org/officeDocument/2006/relationships/notesMaster" Target="/ppt/notesMasters/notesMaster1.xml" Id="R6b4903e8f6f945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be96698c1744e3" /><Relationship Type="http://schemas.openxmlformats.org/officeDocument/2006/relationships/notesMaster" Target="/ppt/notesMasters/notesMaster1.xml" Id="R03202599bf2a4f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ed9f904bf8433f" /><Relationship Type="http://schemas.openxmlformats.org/officeDocument/2006/relationships/notesMaster" Target="/ppt/notesMasters/notesMaster1.xml" Id="R8767decc450546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50535995f140df" /><Relationship Type="http://schemas.openxmlformats.org/officeDocument/2006/relationships/notesMaster" Target="/ppt/notesMasters/notesMaster1.xml" Id="R81938d51b30c44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5c91f964c14fa4" /><Relationship Type="http://schemas.openxmlformats.org/officeDocument/2006/relationships/notesMaster" Target="/ppt/notesMasters/notesMaster1.xml" Id="R920b6f5e07a04a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2b30507f0a480f" /><Relationship Type="http://schemas.openxmlformats.org/officeDocument/2006/relationships/notesMaster" Target="/ppt/notesMasters/notesMaster1.xml" Id="Rf888f0deffed49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75401c55b44888" /><Relationship Type="http://schemas.openxmlformats.org/officeDocument/2006/relationships/notesMaster" Target="/ppt/notesMasters/notesMaster1.xml" Id="Rb185d677bc2542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8a0ebe20b44441" /><Relationship Type="http://schemas.openxmlformats.org/officeDocument/2006/relationships/notesMaster" Target="/ppt/notesMasters/notesMaster1.xml" Id="Re8cc8fb42a6c4f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823530935c4d3e" /><Relationship Type="http://schemas.openxmlformats.org/officeDocument/2006/relationships/notesMaster" Target="/ppt/notesMasters/notesMaster1.xml" Id="Ra4cb29e03e1941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c5c4a50b5145c5" /><Relationship Type="http://schemas.openxmlformats.org/officeDocument/2006/relationships/notesMaster" Target="/ppt/notesMasters/notesMaster1.xml" Id="Ra417928b895a41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30ec223af94e12" /><Relationship Type="http://schemas.openxmlformats.org/officeDocument/2006/relationships/notesMaster" Target="/ppt/notesMasters/notesMaster1.xml" Id="Rd95de198230e4c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5349f8a8784a0b" /><Relationship Type="http://schemas.openxmlformats.org/officeDocument/2006/relationships/notesMaster" Target="/ppt/notesMasters/notesMaster1.xml" Id="R86e60e3f310343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4307908a4d4bb2" /><Relationship Type="http://schemas.openxmlformats.org/officeDocument/2006/relationships/notesMaster" Target="/ppt/notesMasters/notesMaster1.xml" Id="Rd5e2cf51c99e43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98007178684048" /><Relationship Type="http://schemas.openxmlformats.org/officeDocument/2006/relationships/notesMaster" Target="/ppt/notesMasters/notesMaster1.xml" Id="R4d60a946247d4d3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1cb7f711454ddb" /><Relationship Type="http://schemas.openxmlformats.org/officeDocument/2006/relationships/notesMaster" Target="/ppt/notesMasters/notesMaster1.xml" Id="Ref7485b45a104c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bbceca0e2345a6" /><Relationship Type="http://schemas.openxmlformats.org/officeDocument/2006/relationships/notesMaster" Target="/ppt/notesMasters/notesMaster1.xml" Id="R15bc4deefbfe42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cfdbe784ef4c5a" /><Relationship Type="http://schemas.openxmlformats.org/officeDocument/2006/relationships/notesMaster" Target="/ppt/notesMasters/notesMaster1.xml" Id="Ra792e79d666a4af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c842944eb504337" /><Relationship Type="http://schemas.openxmlformats.org/officeDocument/2006/relationships/notesMaster" Target="/ppt/notesMasters/notesMaster1.xml" Id="R8bb9318a2c7c4e6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4cd31cd35243b8" /><Relationship Type="http://schemas.openxmlformats.org/officeDocument/2006/relationships/notesMaster" Target="/ppt/notesMasters/notesMaster1.xml" Id="Rc09d79fa6eb444b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84c8b394465411f" /><Relationship Type="http://schemas.openxmlformats.org/officeDocument/2006/relationships/notesMaster" Target="/ppt/notesMasters/notesMaster1.xml" Id="Rb3a7bd148567432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1b8305678d844b0" /><Relationship Type="http://schemas.openxmlformats.org/officeDocument/2006/relationships/notesMaster" Target="/ppt/notesMasters/notesMaster1.xml" Id="R0b5f11607dab4fc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74de5e5ae3d4d51" /><Relationship Type="http://schemas.openxmlformats.org/officeDocument/2006/relationships/notesMaster" Target="/ppt/notesMasters/notesMaster1.xml" Id="Rdea19290195944c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1e00f91a0254d81" /><Relationship Type="http://schemas.openxmlformats.org/officeDocument/2006/relationships/notesMaster" Target="/ppt/notesMasters/notesMaster1.xml" Id="R69192eb3721c4195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a0ab774b94c42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de1f472d494aed" /><Relationship Type="http://schemas.openxmlformats.org/officeDocument/2006/relationships/slideLayout" Target="/ppt/slideLayouts/slideLayout1.xml" Id="Rabdee9cec0454671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abdee9cec045467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11aec407276d4bff" /><Relationship Type="http://schemas.openxmlformats.org/officeDocument/2006/relationships/slideLayout" Target="/ppt/slideLayouts/slideLayout1.xml" Id="R3e06d37f2d6b46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754a0349cf2649e5" /><Relationship Type="http://schemas.openxmlformats.org/officeDocument/2006/relationships/slideLayout" Target="/ppt/slideLayouts/slideLayout1.xml" Id="Ra996be7c278c42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f90ca2917a844ffb" /><Relationship Type="http://schemas.openxmlformats.org/officeDocument/2006/relationships/slideLayout" Target="/ppt/slideLayouts/slideLayout1.xml" Id="Rdc96a0337e2147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e79a1c1c4cf24c49" /><Relationship Type="http://schemas.openxmlformats.org/officeDocument/2006/relationships/slideLayout" Target="/ppt/slideLayouts/slideLayout1.xml" Id="Rcc38e937672a4f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43afea82118e4639" /><Relationship Type="http://schemas.openxmlformats.org/officeDocument/2006/relationships/slideLayout" Target="/ppt/slideLayouts/slideLayout1.xml" Id="Radc47d93d58d4a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1d4919590e8249d5" /><Relationship Type="http://schemas.openxmlformats.org/officeDocument/2006/relationships/slideLayout" Target="/ppt/slideLayouts/slideLayout1.xml" Id="R17810f51b27045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454ca80c589942c2" /><Relationship Type="http://schemas.openxmlformats.org/officeDocument/2006/relationships/slideLayout" Target="/ppt/slideLayouts/slideLayout1.xml" Id="Rb7d872a01c3b49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6883f74b646e4885" /><Relationship Type="http://schemas.openxmlformats.org/officeDocument/2006/relationships/slideLayout" Target="/ppt/slideLayouts/slideLayout1.xml" Id="Rd9d869bae1674b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9.xml" Id="R76adedc069fb4944" /><Relationship Type="http://schemas.openxmlformats.org/officeDocument/2006/relationships/slideLayout" Target="/ppt/slideLayouts/slideLayout1.xml" Id="R95b27b030b7346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notesSlide" Target="/ppt/notesSlides/notesSlide10.xml" Id="R433e225e08e244e8" /><Relationship Type="http://schemas.openxmlformats.org/officeDocument/2006/relationships/slideLayout" Target="/ppt/slideLayouts/slideLayout1.xml" Id="R2bd18c0f393f4d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notesSlide" Target="/ppt/notesSlides/notesSlide11.xml" Id="R97018f4b7f984a70" /><Relationship Type="http://schemas.openxmlformats.org/officeDocument/2006/relationships/slideLayout" Target="/ppt/slideLayouts/slideLayout1.xml" Id="R0379990fb31a4a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notesSlide" Target="/ppt/notesSlides/notesSlide12.xml" Id="R34cfaee9ad3f4538" /><Relationship Type="http://schemas.openxmlformats.org/officeDocument/2006/relationships/slideLayout" Target="/ppt/slideLayouts/slideLayout1.xml" Id="R2fc9256942b947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notesSlide" Target="/ppt/notesSlides/notesSlide13.xml" Id="Re2575c63e55946dd" /><Relationship Type="http://schemas.openxmlformats.org/officeDocument/2006/relationships/slideLayout" Target="/ppt/slideLayouts/slideLayout1.xml" Id="R44ae66b58e8247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notesSlide" Target="/ppt/notesSlides/notesSlide14.xml" Id="Rd9ad341434fb4e4c" /><Relationship Type="http://schemas.openxmlformats.org/officeDocument/2006/relationships/slideLayout" Target="/ppt/slideLayouts/slideLayout1.xml" Id="R45683c22f7a240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notesSlide" Target="/ppt/notesSlides/notesSlide15.xml" Id="R8dc453fb76ac4cf4" /><Relationship Type="http://schemas.openxmlformats.org/officeDocument/2006/relationships/slideLayout" Target="/ppt/slideLayouts/slideLayout1.xml" Id="R2493b287123f45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notesSlide" Target="/ppt/notesSlides/notesSlide16.xml" Id="R6d316d8493ca4265" /><Relationship Type="http://schemas.openxmlformats.org/officeDocument/2006/relationships/slideLayout" Target="/ppt/slideLayouts/slideLayout1.xml" Id="R3f0f093ca6e647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notesSlide" Target="/ppt/notesSlides/notesSlide17.xml" Id="Rf446946d58c440bc" /><Relationship Type="http://schemas.openxmlformats.org/officeDocument/2006/relationships/slideLayout" Target="/ppt/slideLayouts/slideLayout1.xml" Id="R2847cd9cd24b472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notesSlide" Target="/ppt/notesSlides/notesSlide18.xml" Id="R23fec1c1b2454f26" /><Relationship Type="http://schemas.openxmlformats.org/officeDocument/2006/relationships/slideLayout" Target="/ppt/slideLayouts/slideLayout1.xml" Id="Rad4de06aa0e7419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notesSlide" Target="/ppt/notesSlides/notesSlide19.xml" Id="R2b9ff76801704297" /><Relationship Type="http://schemas.openxmlformats.org/officeDocument/2006/relationships/slideLayout" Target="/ppt/slideLayouts/slideLayout1.xml" Id="Re5f5a9c35f54433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notesSlide" Target="/ppt/notesSlides/notesSlide20.xml" Id="Rdf0e4fcea81a4913" /><Relationship Type="http://schemas.openxmlformats.org/officeDocument/2006/relationships/slideLayout" Target="/ppt/slideLayouts/slideLayout1.xml" Id="R2a35e18f46e747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notesSlide" Target="/ppt/notesSlides/notesSlide21.xml" Id="Rcadea0f31e004479" /><Relationship Type="http://schemas.openxmlformats.org/officeDocument/2006/relationships/slideLayout" Target="/ppt/slideLayouts/slideLayout1.xml" Id="Rf3cf93a5c76b48f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notesSlide" Target="/ppt/notesSlides/notesSlide22.xml" Id="R3efa182544ac4eeb" /><Relationship Type="http://schemas.openxmlformats.org/officeDocument/2006/relationships/slideLayout" Target="/ppt/slideLayouts/slideLayout1.xml" Id="R52d9df458e6a445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notesSlide" Target="/ppt/notesSlides/notesSlide23.xml" Id="R2d11b181f6144beb" /><Relationship Type="http://schemas.openxmlformats.org/officeDocument/2006/relationships/slideLayout" Target="/ppt/slideLayouts/slideLayout1.xml" Id="R3a328384df844bd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notesSlide" Target="/ppt/notesSlides/notesSlide24.xml" Id="Rca8feb64c4514232" /><Relationship Type="http://schemas.openxmlformats.org/officeDocument/2006/relationships/slideLayout" Target="/ppt/slideLayouts/slideLayout1.xml" Id="R6270e642d6ea422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notesSlide" Target="/ppt/notesSlides/notesSlide25.xml" Id="R228e73ae38ad472a" /><Relationship Type="http://schemas.openxmlformats.org/officeDocument/2006/relationships/slideLayout" Target="/ppt/slideLayouts/slideLayout1.xml" Id="Re78fd125c3eb417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notesSlide" Target="/ppt/notesSlides/notesSlide26.xml" Id="R7c209cf853324ec8" /><Relationship Type="http://schemas.openxmlformats.org/officeDocument/2006/relationships/slideLayout" Target="/ppt/slideLayouts/slideLayout1.xml" Id="Re5a2a3ec29aa4d9b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5760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tasked with increasing the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for Youtube.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would you proceed?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0" y="822960"/>
            <a:ext cx="1828800" cy="1828800"/>
          </a:xfrm>
          <a:prstGeom prst="ellipse">
            <a:avLst/>
          </a:prstGeom>
          <a:solidFill>
            <a:srgbClr val="C7D9F5"/>
          </a:solidFill>
          <a:ln w="12700">
            <a:solidFill>
              <a:srgbClr val="C7D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9144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4A90D9"/>
                </a:solidFill>
              </a:rPr>
              <a:t>?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So, first let's understand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few things "business"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2880"/>
          <a:ext cx="4754880" cy="4754880"/>
        </p:xfrm>
        <a:graphic>
          <a:graphicData uri="http://schemas.openxmlformats.org/drawingml/2006/table">
            <a:tbl>
              <a:tblPr/>
              <a:tblGrid>
                <a:gridCol w="1584960"/>
                <a:gridCol w="1584960"/>
                <a:gridCol w="1584960"/>
              </a:tblGrid>
              <a:tr h="33963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</a:rPr>
                        <a:t>Income Statement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4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</a:rPr>
                        <a:t>Revenue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$  1,000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</a:rPr>
                        <a:t>Cost of Goods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$ (200)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</a:rPr>
                        <a:t>Gross Margin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$    800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</a:rPr>
                        <a:t>Expenses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  R&amp;D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$ (150)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  Sales &amp; Marketing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$ (200)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  Customer Support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$ (100)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  G&amp;A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$ (50)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</a:rPr>
                        <a:t>Operating Profit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$    300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  Interest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$ (30)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  Taxes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$ (25)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  Depreciation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</a:rPr>
                        <a:t>$ (10)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</a:rPr>
                        <a:t>Net Profit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</a:rPr>
                        <a:t>$    235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5029200" y="320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Top Line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0" y="4572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Bottom Line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303520" y="1280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A company's growth revolves around growing 2 things: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303520" y="2377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- Top line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- Bottom line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Some of the business outcomes that matter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1.  Profits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 = Revenue - Costs/Expenses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2.  Revenue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 = # customers X Avg. order value/customer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3.  Costs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 = Cost of goods sold + cost of running operations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3383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4.  Market share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 = Total sales / Total Available Market size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5.  Customer Churn rate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 = No. of customers lost/Total customers (over a certain time period)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 you get these numbers </a:t>
            </a:r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</a:t>
            </a:r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the events have happened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11111"/>
                </a:solidFill>
              </a:rPr>
              <a:t>(eg. you get a sense of the profits after the revenues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11111"/>
                </a:solidFill>
              </a:rPr>
              <a:t>have hit your a/c and expenses have been incurred)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Hence, business outcomes 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lagging indicators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111"/>
                </a:solidFill>
              </a:rPr>
              <a:t>Lagging indicator: </a:t>
            </a:r>
            <a:pPr algn="ctr" indent="0" marL="0">
              <a:buNone/>
            </a:pPr>
            <a:r>
              <a:rPr lang="en-US" sz="2300" dirty="0">
                <a:solidFill>
                  <a:srgbClr val="111111"/>
                </a:solidFill>
              </a:rPr>
              <a:t>An indicator of past performance that shows how we performed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There are 6 predominant business models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1.   Selling a product/service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09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2.   Renting a product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6829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3.   Commission based sales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266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4.   Charge a subscription fee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85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5.   Charge based on usage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6.   Advertising based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Now, let's write down the Revenue in the form of an equation for each of these business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11111"/>
                </a:solidFill>
              </a:rPr>
              <a:t>Focus on what is being sold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Selling a product/service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</a:rPr>
              <a:t>Revenue = # customers X avg. order value/customer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Renting a product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</a:rPr>
              <a:t>Revenue = # rental customers X avg. rental value per unit X avg. rental duration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Commission based sales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</a:rPr>
              <a:t>Revenue = Commission rate X Total sales value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Charge a subscription fee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</a:rPr>
              <a:t>Revenue = # subscribers X avg. subscription price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Charge based on usage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</a:rPr>
              <a:t>Revenue = # users X avg. usage per user X price per unit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Advertising based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</a:rPr>
              <a:t>Revenue = # ad impressions X Cost per impression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would you break down this metric?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3B82F6"/>
                </a:solidFill>
              </a:rPr>
              <a:t>Revenue for Youtube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the business model for Youtube?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111111"/>
                </a:solidFill>
              </a:rPr>
              <a:t>Primarily Advertising based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11111"/>
                </a:solidFill>
              </a:rPr>
              <a:t>(also subscription based with Youtube Premium,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111111"/>
                </a:solidFill>
              </a:rPr>
              <a:t>rental for YouTube Movies, commissions from SuperChat)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We'll keep things simple for easier understanding of the process.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11111"/>
                </a:solidFill>
              </a:rPr>
              <a:t>Assume that YouTube has only impression based advertising in the form of video ads. All videos have ads. All ads are skippable.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Revenue Breakdown - Level 1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2103120"/>
            <a:ext cx="1645920" cy="68580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0312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Revenue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920240" y="2446020"/>
            <a:ext cx="4572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737360"/>
            <a:ext cx="0" cy="141732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737360"/>
            <a:ext cx="36576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3154680"/>
            <a:ext cx="36576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417320"/>
            <a:ext cx="1828800" cy="68580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417320"/>
            <a:ext cx="18288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# ad impressions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2852928"/>
            <a:ext cx="1828800" cy="68580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852928"/>
            <a:ext cx="18288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Cost per impression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08960" y="21945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X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Expanding: # ad impressions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37160" y="2103120"/>
            <a:ext cx="1554480" cy="64008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Revenue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691640" y="2423160"/>
            <a:ext cx="3200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737360"/>
            <a:ext cx="0" cy="137160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737360"/>
            <a:ext cx="3200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3108960"/>
            <a:ext cx="3200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1417320"/>
            <a:ext cx="1691640" cy="64008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417320"/>
            <a:ext cx="16916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# ad impressions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2788920"/>
            <a:ext cx="1691640" cy="64008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2788920"/>
            <a:ext cx="16916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Cost per impression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0" y="22128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23360" y="1737360"/>
            <a:ext cx="27432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280160"/>
            <a:ext cx="0" cy="91440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280160"/>
            <a:ext cx="27432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194560"/>
            <a:ext cx="27432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005840"/>
            <a:ext cx="1828800" cy="59436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# video plays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1920240"/>
            <a:ext cx="1828800" cy="59436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Avg. # ad imp/video play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1691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X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Expanding: avg. # ad imp/video play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" y="2148840"/>
            <a:ext cx="1371600" cy="59436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" y="2148840"/>
            <a:ext cx="13716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Revenue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463040" y="2446020"/>
            <a:ext cx="2286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1737360"/>
            <a:ext cx="0" cy="141732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737360"/>
            <a:ext cx="2286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3154680"/>
            <a:ext cx="2286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444752"/>
            <a:ext cx="1645920" cy="59436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444752"/>
            <a:ext cx="16459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# ad impressions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20240" y="2852928"/>
            <a:ext cx="1645920" cy="59436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852928"/>
            <a:ext cx="16459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Cost per impression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2240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1741932"/>
            <a:ext cx="2286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1234440"/>
            <a:ext cx="0" cy="1014984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1234440"/>
            <a:ext cx="2286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2249424"/>
            <a:ext cx="2286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960120"/>
            <a:ext cx="1645920" cy="54864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960120"/>
            <a:ext cx="16459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# video plays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23360" y="1993392"/>
            <a:ext cx="1645920" cy="54864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1993392"/>
            <a:ext cx="16459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Avg. # ad imp/video play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16916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X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0" y="2267712"/>
            <a:ext cx="2286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828800"/>
            <a:ext cx="0" cy="877824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828800"/>
            <a:ext cx="2286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2706624"/>
            <a:ext cx="2286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572768"/>
            <a:ext cx="1463040" cy="50292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# ads/min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487168"/>
            <a:ext cx="1691640" cy="50292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Avg. video play duration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22219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X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Full KPI Tree - Key Product Outcome Metrics highlighted in green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" y="2148840"/>
            <a:ext cx="1280160" cy="548640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Revenue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371600" y="2423160"/>
            <a:ext cx="18288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737360"/>
            <a:ext cx="0" cy="137160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1737360"/>
            <a:ext cx="18288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3108960"/>
            <a:ext cx="18288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463040"/>
            <a:ext cx="1508760" cy="530352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463040"/>
            <a:ext cx="15087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# ad impressions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37360" y="2788920"/>
            <a:ext cx="1508760" cy="530352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788920"/>
            <a:ext cx="15087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Cost per impression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217627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1728216"/>
            <a:ext cx="18288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234440"/>
            <a:ext cx="0" cy="987552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234440"/>
            <a:ext cx="18288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2221992"/>
            <a:ext cx="18288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11880" y="960120"/>
            <a:ext cx="1463040" cy="530352"/>
          </a:xfrm>
          <a:prstGeom prst="rect">
            <a:avLst/>
          </a:prstGeom>
          <a:solidFill>
            <a:srgbClr val="22C55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960120"/>
            <a:ext cx="14630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# video plays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11880" y="1965960"/>
            <a:ext cx="1463040" cy="530352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1965960"/>
            <a:ext cx="14630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Avg. # ad imp/video play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0" y="16916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1225296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39512" y="777240"/>
            <a:ext cx="0" cy="886968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39512" y="777240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9512" y="1664208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04104" y="548640"/>
            <a:ext cx="1508760" cy="475488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04104" y="548640"/>
            <a:ext cx="15087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# video viewers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04104" y="1444752"/>
            <a:ext cx="1508760" cy="475488"/>
          </a:xfrm>
          <a:prstGeom prst="rect">
            <a:avLst/>
          </a:prstGeom>
          <a:solidFill>
            <a:srgbClr val="22C55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04104" y="1444752"/>
            <a:ext cx="15087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Avg. video plays/viewer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23560" y="1170432"/>
            <a:ext cx="1069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X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12864" y="786384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77456" y="457200"/>
            <a:ext cx="0" cy="676656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77456" y="457200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77456" y="1133856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42048" y="228600"/>
            <a:ext cx="1645920" cy="420624"/>
          </a:xfrm>
          <a:prstGeom prst="rect">
            <a:avLst/>
          </a:prstGeom>
          <a:solidFill>
            <a:srgbClr val="22C55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228600"/>
            <a:ext cx="164592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# visitors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242048" y="914400"/>
            <a:ext cx="1645920" cy="420624"/>
          </a:xfrm>
          <a:prstGeom prst="rect">
            <a:avLst/>
          </a:prstGeom>
          <a:solidFill>
            <a:srgbClr val="22C55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42048" y="914400"/>
            <a:ext cx="164592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(1 - bounce rate %)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06640" y="740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X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42048" y="1426464"/>
            <a:ext cx="1645920" cy="420624"/>
          </a:xfrm>
          <a:prstGeom prst="rect">
            <a:avLst/>
          </a:prstGeom>
          <a:solidFill>
            <a:srgbClr val="22C55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42048" y="1426464"/>
            <a:ext cx="164592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Video thumbnail CTR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406640" y="128930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X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74920" y="2231136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39512" y="1874520"/>
            <a:ext cx="0" cy="713232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39512" y="1874520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39512" y="2587752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04104" y="1664208"/>
            <a:ext cx="1508760" cy="438912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04104" y="1664208"/>
            <a:ext cx="15087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# ads/min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04104" y="2377440"/>
            <a:ext cx="1508760" cy="438912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04104" y="2377440"/>
            <a:ext cx="15087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Avg. video play duration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623560" y="2176272"/>
            <a:ext cx="106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X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912864" y="2596896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77456" y="2304288"/>
            <a:ext cx="0" cy="603504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77456" y="2304288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77456" y="2907792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42048" y="2084832"/>
            <a:ext cx="1645920" cy="420624"/>
          </a:xfrm>
          <a:prstGeom prst="rect">
            <a:avLst/>
          </a:prstGeom>
          <a:solidFill>
            <a:srgbClr val="E2E2E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42048" y="2084832"/>
            <a:ext cx="164592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Avg. video duration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242048" y="2697480"/>
            <a:ext cx="1645920" cy="420624"/>
          </a:xfrm>
          <a:prstGeom prst="rect">
            <a:avLst/>
          </a:prstGeom>
          <a:solidFill>
            <a:srgbClr val="22C55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42048" y="2697480"/>
            <a:ext cx="164592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Avg. video completion rate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406640" y="25511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X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82880" y="4572000"/>
            <a:ext cx="274320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= Product outcome (leading indicator)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start by looking at the user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11111"/>
                </a:solidFill>
              </a:rPr>
              <a:t>What are the steps you go through in the process of watching a video?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2926080"/>
            <a:ext cx="832104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920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Visit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</a:rPr>
              <a:t>v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Browse/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47672" y="2788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</a:rPr>
              <a:t>v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80944" y="1920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Click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video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thumbnail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00984" y="2788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</a:rPr>
              <a:t>v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62272" y="1920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Watch 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82312" y="2788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</a:rPr>
              <a:t>v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742432" y="1920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Pause/Stop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62472" y="2788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</a:rPr>
              <a:t>v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32320" y="1920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View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recommended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video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52360" y="2788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</a:rPr>
              <a:t>v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outcomes won't happen without a change in human behaviour.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outcomes define those changes in human behaviour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11111"/>
                </a:solidFill>
              </a:rPr>
              <a:t>Product Outcomes get translated into Themes in a Roadmap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111111"/>
                </a:solidFill>
              </a:rPr>
              <a:t>and/or into OKR (Objectives &amp; Key Results) documents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 -&gt;  Lagging indicator (business outcome)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1965960"/>
            <a:ext cx="54864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thumbnail CTR  -&gt;  Leading indicator (product outcome)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3520440"/>
            <a:ext cx="3200400" cy="82296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520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Lagging = tells you what happened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3520440"/>
            <a:ext cx="3200400" cy="822960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3520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Leading = predicts what will happen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583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 Revenue — KPI Solution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0" y="0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Outcome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=  # Ad Impressions  x  Cost per Impression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PRODUCT OUTCOME METRICS  (Leading Indicators — what we can actually move)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2336" y="1956816"/>
            <a:ext cx="2651760" cy="7772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265176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54864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11680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Video Plays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3134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Video Viewers x Avg. Plays/Viewer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82696" y="1956816"/>
            <a:ext cx="2651760" cy="7772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920240"/>
            <a:ext cx="265176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920240"/>
            <a:ext cx="5486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2011680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Visitors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0712" y="23134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landing on YouTube — grow via acquisition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1956816"/>
            <a:ext cx="2651760" cy="7772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920240"/>
            <a:ext cx="265176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920240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2011680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— Bounce Rate %)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1072" y="23134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visitors who engage and stay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2336" y="2871216"/>
            <a:ext cx="2651760" cy="7772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834640"/>
            <a:ext cx="265176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834640"/>
            <a:ext cx="54864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926080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Thumbnail CTR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32278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on thumbnails shown to users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82696" y="2871216"/>
            <a:ext cx="2651760" cy="7772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2834640"/>
            <a:ext cx="265176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2834640"/>
            <a:ext cx="54864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2926080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Video Plays / Viewer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0712" y="32278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watched per viewer per session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63056" y="2871216"/>
            <a:ext cx="2651760" cy="7772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834640"/>
            <a:ext cx="265176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2834640"/>
            <a:ext cx="54864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2926080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Video Completion Rate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91072" y="32278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video watched — drives ad impression count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3840480"/>
            <a:ext cx="146304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8221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Direct product outcome (what PM teams own)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0" y="3840480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3400" y="38221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Growth / acquisition metric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3840480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38221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Engagement / retention metric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583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Move Each Metric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0" y="0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levers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149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Thumbnail CTR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30759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130759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thumbnail design, personalised recommendations, improved search ranking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84124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64792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196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Visitors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112264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211226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social sharing, notifications, email re-engagement campaigns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69464"/>
            <a:ext cx="84124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69464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624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— Bounce Rate 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291693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" y="29169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page load, better homepage personalisation, relevant autoplay suggestions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374136"/>
            <a:ext cx="54864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429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Video Plays / Viewer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372160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" y="372160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end-screen recommendations, autoplay UX, topic-based playlists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78808"/>
            <a:ext cx="84124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178808"/>
            <a:ext cx="54864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2336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Video Completion Rate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" y="4526280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" y="45262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high-retention videos, improve pacing signals in recommendations</a:t>
            </a:r>
            <a:endParaRPr lang="en-US" sz="1000" dirty="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PptxGenJS Presentation</dc:title>
  <dc:subject>PptxGenJS Presentation</dc:subject>
  <dc:creator>PptxGenJS</dc:creator>
  <lastModifiedBy>PptxGenJS</lastModifiedBy>
  <revision>1</revision>
  <dcterms:created xsi:type="dcterms:W3CDTF">2026-04-08T09:27:30.0000000Z</dcterms:created>
  <dcterms:modified xsi:type="dcterms:W3CDTF">2026-04-08T13:53:27.7650000Z</dcterms:modified>
</coreProperties>
</file>